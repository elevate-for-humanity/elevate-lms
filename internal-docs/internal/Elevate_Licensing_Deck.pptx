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Elevate for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Enterprise Workforce Automation Platform</a:t>
            </a:r>
          </a:p>
          <a:p>
            <a:pPr algn="ctr">
              <a:defRPr sz="2000"/>
            </a:pPr>
          </a:p>
          <a:p>
            <a:pPr algn="ctr">
              <a:defRPr sz="2000"/>
            </a:pPr>
            <a:r>
              <a:t>System of Record • Signature-Driven Activation</a:t>
            </a:r>
          </a:p>
          <a:p>
            <a:pPr algn="ctr">
              <a:defRPr sz="2000"/>
            </a:pPr>
            <a:r>
              <a:t>Automated Tasks • Audit-Ready Reporting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The Problem: Manual Workflows Don't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Paper-based enrollment and signatures</a:t>
            </a:r>
          </a:p>
          <a:p>
            <a:pPr>
              <a:spcAft>
                <a:spcPts val="800"/>
              </a:spcAft>
              <a:defRPr sz="1800"/>
            </a:pPr>
            <a:r>
              <a:t>• No unified case record across parties</a:t>
            </a:r>
          </a:p>
          <a:p>
            <a:pPr>
              <a:spcAft>
                <a:spcPts val="800"/>
              </a:spcAft>
              <a:defRPr sz="1800"/>
            </a:pPr>
            <a:r>
              <a:t>• Manual task assignment and tracking</a:t>
            </a:r>
          </a:p>
          <a:p>
            <a:pPr>
              <a:spcAft>
                <a:spcPts val="800"/>
              </a:spcAft>
              <a:defRPr sz="1800"/>
            </a:pPr>
            <a:r>
              <a:t>• Audit trails scattered across systems</a:t>
            </a:r>
          </a:p>
          <a:p>
            <a:pPr>
              <a:spcAft>
                <a:spcPts val="800"/>
              </a:spcAft>
              <a:defRPr sz="1800"/>
            </a:pPr>
            <a:r>
              <a:t>• Compliance reporting requires manual compilation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Automation-First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The platform serves as the system of record for programs</a:t>
            </a:r>
          </a:p>
          <a:p>
            <a:pPr>
              <a:spcAft>
                <a:spcPts val="800"/>
              </a:spcAft>
              <a:defRPr sz="1800"/>
            </a:pPr>
            <a:r>
              <a:t>• Program activation is driven by required signatures</a:t>
            </a:r>
          </a:p>
          <a:p>
            <a:pPr>
              <a:spcAft>
                <a:spcPts val="800"/>
              </a:spcAft>
              <a:defRPr sz="1800"/>
            </a:pPr>
            <a:r>
              <a:t>• Tasks, milestones, and reporting initialize automatically</a:t>
            </a:r>
          </a:p>
          <a:p>
            <a:pPr>
              <a:spcAft>
                <a:spcPts val="800"/>
              </a:spcAft>
              <a:defRPr sz="1800"/>
            </a:pPr>
            <a:r>
              <a:t>• All actions logged for audit and reimbursement purposes</a:t>
            </a:r>
          </a:p>
          <a:p>
            <a:pPr>
              <a:spcAft>
                <a:spcPts val="800"/>
              </a:spcAft>
              <a:defRPr sz="1800"/>
            </a:pPr>
            <a:r>
              <a:t>• </a:t>
            </a:r>
          </a:p>
          <a:p>
            <a:pPr>
              <a:spcAft>
                <a:spcPts val="800"/>
              </a:spcAft>
              <a:defRPr sz="1800"/>
            </a:pPr>
            <a:r>
              <a:t>[Note: Credentials and instructional partners may be provided by licensee]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enrollment_cases → Canonical case record</a:t>
            </a:r>
          </a:p>
          <a:p>
            <a:pPr>
              <a:spcAft>
                <a:spcPts val="800"/>
              </a:spcAft>
              <a:defRPr sz="1800"/>
            </a:pPr>
            <a:r>
              <a:t>•     ↓</a:t>
            </a:r>
          </a:p>
          <a:p>
            <a:pPr>
              <a:spcAft>
                <a:spcPts val="800"/>
              </a:spcAft>
              <a:defRPr sz="1800"/>
            </a:pPr>
            <a:r>
              <a:t>• apprentice_agreements → Multi-party signatures</a:t>
            </a:r>
          </a:p>
          <a:p>
            <a:pPr>
              <a:spcAft>
                <a:spcPts val="800"/>
              </a:spcAft>
              <a:defRPr sz="1800"/>
            </a:pPr>
            <a:r>
              <a:t>•     ↓</a:t>
            </a:r>
          </a:p>
          <a:p>
            <a:pPr>
              <a:spcAft>
                <a:spcPts val="800"/>
              </a:spcAft>
              <a:defRPr sz="1800"/>
            </a:pPr>
            <a:r>
              <a:t>[DB Trigger] → checkSignatureCompleteness()</a:t>
            </a:r>
          </a:p>
          <a:p>
            <a:pPr>
              <a:spcAft>
                <a:spcPts val="800"/>
              </a:spcAft>
              <a:defRPr sz="1800"/>
            </a:pPr>
            <a:r>
              <a:t>•     ↓</a:t>
            </a:r>
          </a:p>
          <a:p>
            <a:pPr>
              <a:spcAft>
                <a:spcPts val="800"/>
              </a:spcAft>
              <a:defRPr sz="1800"/>
            </a:pPr>
            <a:r>
              <a:t>• case_tasks → Auto-initialized from templates</a:t>
            </a:r>
          </a:p>
          <a:p>
            <a:pPr>
              <a:spcAft>
                <a:spcPts val="800"/>
              </a:spcAft>
              <a:defRPr sz="1800"/>
            </a:pPr>
            <a:r>
              <a:t>•     ↓</a:t>
            </a:r>
          </a:p>
          <a:p>
            <a:pPr>
              <a:spcAft>
                <a:spcPts val="800"/>
              </a:spcAft>
              <a:defRPr sz="1800"/>
            </a:pPr>
            <a:r>
              <a:t>• case_events → Append-only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Signature-Driven Activation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Student signature (enrollment consent)</a:t>
            </a:r>
          </a:p>
          <a:p>
            <a:pPr>
              <a:spcAft>
                <a:spcPts val="800"/>
              </a:spcAft>
              <a:defRPr sz="1800"/>
            </a:pPr>
            <a:r>
              <a:t>• Employer signature (OJT commitment)</a:t>
            </a:r>
          </a:p>
          <a:p>
            <a:pPr>
              <a:spcAft>
                <a:spcPts val="800"/>
              </a:spcAft>
              <a:defRPr sz="1800"/>
            </a:pPr>
            <a:r>
              <a:t>• Program holder signature (sponsorship agreement)</a:t>
            </a:r>
          </a:p>
          <a:p>
            <a:pPr>
              <a:spcAft>
                <a:spcPts val="800"/>
              </a:spcAft>
              <a:defRPr sz="1800"/>
            </a:pPr>
            <a:r>
              <a:t>• System validates completeness automatically</a:t>
            </a:r>
          </a:p>
          <a:p>
            <a:pPr>
              <a:spcAft>
                <a:spcPts val="800"/>
              </a:spcAft>
              <a:defRPr sz="1800"/>
            </a:pPr>
            <a:r>
              <a:t>• Case activates only when all required signatures received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Automated Task Initialization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When case activates, system auto-creates:</a:t>
            </a:r>
          </a:p>
          <a:p>
            <a:pPr>
              <a:spcAft>
                <a:spcPts val="800"/>
              </a:spcAft>
              <a:defRPr sz="1800"/>
            </a:pPr>
            <a:r>
              <a:t>• </a:t>
            </a:r>
          </a:p>
          <a:p>
            <a:pPr>
              <a:spcAft>
                <a:spcPts val="800"/>
              </a:spcAft>
              <a:defRPr sz="1800"/>
            </a:pPr>
            <a:r>
              <a:t>• Document upload tasks (student)</a:t>
            </a:r>
          </a:p>
          <a:p>
            <a:pPr>
              <a:spcAft>
                <a:spcPts val="800"/>
              </a:spcAft>
              <a:defRPr sz="1800"/>
            </a:pPr>
            <a:r>
              <a:t>• Verification tasks (program holder)</a:t>
            </a:r>
          </a:p>
          <a:p>
            <a:pPr>
              <a:spcAft>
                <a:spcPts val="800"/>
              </a:spcAft>
              <a:defRPr sz="1800"/>
            </a:pPr>
            <a:r>
              <a:t>• RAPIDS registration (program holder)</a:t>
            </a:r>
          </a:p>
          <a:p>
            <a:pPr>
              <a:spcAft>
                <a:spcPts val="800"/>
              </a:spcAft>
              <a:defRPr sz="1800"/>
            </a:pPr>
            <a:r>
              <a:t>• Orientation completion (student)</a:t>
            </a:r>
          </a:p>
          <a:p>
            <a:pPr>
              <a:spcAft>
                <a:spcPts val="800"/>
              </a:spcAft>
              <a:defRPr sz="1800"/>
            </a:pPr>
            <a:r>
              <a:t>• Employer agreement (employer)</a:t>
            </a:r>
          </a:p>
          <a:p>
            <a:pPr>
              <a:spcAft>
                <a:spcPts val="800"/>
              </a:spcAft>
              <a:defRPr sz="1800"/>
            </a:pPr>
            <a:r>
              <a:t>• </a:t>
            </a:r>
          </a:p>
          <a:p>
            <a:pPr>
              <a:spcAft>
                <a:spcPts val="800"/>
              </a:spcAft>
              <a:defRPr sz="1800"/>
            </a:pPr>
            <a:r>
              <a:t>[10 tasks seeded for barber apprenticeship program]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Audit &amp; Compliance Ledger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Every action creates an audit record:</a:t>
            </a:r>
          </a:p>
          <a:p>
            <a:pPr>
              <a:spcAft>
                <a:spcPts val="800"/>
              </a:spcAft>
              <a:defRPr sz="1800"/>
            </a:pPr>
            <a:r>
              <a:t>• </a:t>
            </a:r>
          </a:p>
          <a:p>
            <a:pPr>
              <a:spcAft>
                <a:spcPts val="800"/>
              </a:spcAft>
              <a:defRPr sz="1800"/>
            </a:pPr>
            <a:r>
              <a:t>• case_created - enrollment initiated</a:t>
            </a:r>
          </a:p>
          <a:p>
            <a:pPr>
              <a:spcAft>
                <a:spcPts val="800"/>
              </a:spcAft>
              <a:defRPr sz="1800"/>
            </a:pPr>
            <a:r>
              <a:t>• signature_added - party signed agreement</a:t>
            </a:r>
          </a:p>
          <a:p>
            <a:pPr>
              <a:spcAft>
                <a:spcPts val="800"/>
              </a:spcAft>
              <a:defRPr sz="1800"/>
            </a:pPr>
            <a:r>
              <a:t>• status_changed - case state transition</a:t>
            </a:r>
          </a:p>
          <a:p>
            <a:pPr>
              <a:spcAft>
                <a:spcPts val="800"/>
              </a:spcAft>
              <a:defRPr sz="1800"/>
            </a:pPr>
            <a:r>
              <a:t>• tasks_initialized - auto-created from templates</a:t>
            </a:r>
          </a:p>
          <a:p>
            <a:pPr>
              <a:spcAft>
                <a:spcPts val="800"/>
              </a:spcAft>
              <a:defRPr sz="1800"/>
            </a:pPr>
            <a:r>
              <a:t>• task_completed - milestone achieved</a:t>
            </a:r>
          </a:p>
          <a:p>
            <a:pPr>
              <a:spcAft>
                <a:spcPts val="800"/>
              </a:spcAft>
              <a:defRPr sz="1800"/>
            </a:pPr>
            <a:r>
              <a:t>• document_uploaded - evidence attached</a:t>
            </a:r>
          </a:p>
          <a:p>
            <a:pPr>
              <a:spcAft>
                <a:spcPts val="800"/>
              </a:spcAft>
              <a:defRPr sz="1800"/>
            </a:pPr>
            <a:r>
              <a:t>• </a:t>
            </a:r>
          </a:p>
          <a:p>
            <a:pPr>
              <a:spcAft>
                <a:spcPts val="800"/>
              </a:spcAft>
              <a:defRPr sz="1800"/>
            </a:pPr>
            <a:r>
              <a:t>[Append-only. Exportable for WIOA, RAPIDS, agency reporting]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Demo: Admin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[Live Demo: /demo/admin]</a:t>
            </a:r>
          </a:p>
          <a:p>
            <a:pPr>
              <a:spcAft>
                <a:spcPts val="800"/>
              </a:spcAft>
              <a:defRPr sz="1800"/>
            </a:pPr>
            <a:r>
              <a:t>• </a:t>
            </a:r>
          </a:p>
          <a:p>
            <a:pPr>
              <a:spcAft>
                <a:spcPts val="800"/>
              </a:spcAft>
              <a:defRPr sz="1800"/>
            </a:pPr>
            <a:r>
              <a:t>• Case management dashboard</a:t>
            </a:r>
          </a:p>
          <a:p>
            <a:pPr>
              <a:spcAft>
                <a:spcPts val="800"/>
              </a:spcAft>
              <a:defRPr sz="1800"/>
            </a:pPr>
            <a:r>
              <a:t>• Signature status tracking</a:t>
            </a:r>
          </a:p>
          <a:p>
            <a:pPr>
              <a:spcAft>
                <a:spcPts val="800"/>
              </a:spcAft>
              <a:defRPr sz="1800"/>
            </a:pPr>
            <a:r>
              <a:t>• Task completion monitoring</a:t>
            </a:r>
          </a:p>
          <a:p>
            <a:pPr>
              <a:spcAft>
                <a:spcPts val="800"/>
              </a:spcAft>
              <a:defRPr sz="1800"/>
            </a:pPr>
            <a:r>
              <a:t>• Audit event timeline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Demo: Learner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[Live Demo: /demo/learner]</a:t>
            </a:r>
          </a:p>
          <a:p>
            <a:pPr>
              <a:spcAft>
                <a:spcPts val="800"/>
              </a:spcAft>
              <a:defRPr sz="1800"/>
            </a:pPr>
            <a:r>
              <a:t>• </a:t>
            </a:r>
          </a:p>
          <a:p>
            <a:pPr>
              <a:spcAft>
                <a:spcPts val="800"/>
              </a:spcAft>
              <a:defRPr sz="1800"/>
            </a:pPr>
            <a:r>
              <a:t>• Personal case status</a:t>
            </a:r>
          </a:p>
          <a:p>
            <a:pPr>
              <a:spcAft>
                <a:spcPts val="800"/>
              </a:spcAft>
              <a:defRPr sz="1800"/>
            </a:pPr>
            <a:r>
              <a:t>• Required tasks and due dates</a:t>
            </a:r>
          </a:p>
          <a:p>
            <a:pPr>
              <a:spcAft>
                <a:spcPts val="800"/>
              </a:spcAft>
              <a:defRPr sz="1800"/>
            </a:pPr>
            <a:r>
              <a:t>• Document upload interface</a:t>
            </a:r>
          </a:p>
          <a:p>
            <a:pPr>
              <a:spcAft>
                <a:spcPts val="800"/>
              </a:spcAft>
              <a:defRPr sz="1800"/>
            </a:pPr>
            <a:r>
              <a:t>• Progress tracking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Demo: Employer/Partner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[Live Demo: /demo/employer]</a:t>
            </a:r>
          </a:p>
          <a:p>
            <a:pPr>
              <a:spcAft>
                <a:spcPts val="800"/>
              </a:spcAft>
              <a:defRPr sz="1800"/>
            </a:pPr>
            <a:r>
              <a:t>• </a:t>
            </a:r>
          </a:p>
          <a:p>
            <a:pPr>
              <a:spcAft>
                <a:spcPts val="800"/>
              </a:spcAft>
              <a:defRPr sz="1800"/>
            </a:pPr>
            <a:r>
              <a:t>• Assigned cases</a:t>
            </a:r>
          </a:p>
          <a:p>
            <a:pPr>
              <a:spcAft>
                <a:spcPts val="800"/>
              </a:spcAft>
              <a:defRPr sz="1800"/>
            </a:pPr>
            <a:r>
              <a:t>• Signature requests</a:t>
            </a:r>
          </a:p>
          <a:p>
            <a:pPr>
              <a:spcAft>
                <a:spcPts val="800"/>
              </a:spcAft>
              <a:defRPr sz="1800"/>
            </a:pPr>
            <a:r>
              <a:t>• Verification tasks</a:t>
            </a:r>
          </a:p>
          <a:p>
            <a:pPr>
              <a:spcAft>
                <a:spcPts val="800"/>
              </a:spcAft>
              <a:defRPr sz="1800"/>
            </a:pPr>
            <a:r>
              <a:t>• Hours approval workflow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Licensing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Licensing covers:</a:t>
            </a:r>
          </a:p>
          <a:p>
            <a:pPr>
              <a:spcAft>
                <a:spcPts val="800"/>
              </a:spcAft>
              <a:defRPr sz="1800"/>
            </a:pPr>
            <a:r>
              <a:t>• </a:t>
            </a:r>
          </a:p>
          <a:p>
            <a:pPr>
              <a:spcAft>
                <a:spcPts val="800"/>
              </a:spcAft>
              <a:defRPr sz="1800"/>
            </a:pPr>
            <a:r>
              <a:t>• Platform access and automation infrastructure</a:t>
            </a:r>
          </a:p>
          <a:p>
            <a:pPr>
              <a:spcAft>
                <a:spcPts val="800"/>
              </a:spcAft>
              <a:defRPr sz="1800"/>
            </a:pPr>
            <a:r>
              <a:t>• Case spine and workflow engine</a:t>
            </a:r>
          </a:p>
          <a:p>
            <a:pPr>
              <a:spcAft>
                <a:spcPts val="800"/>
              </a:spcAft>
              <a:defRPr sz="1800"/>
            </a:pPr>
            <a:r>
              <a:t>• Audit logging and compliance reporting</a:t>
            </a:r>
          </a:p>
          <a:p>
            <a:pPr>
              <a:spcAft>
                <a:spcPts val="800"/>
              </a:spcAft>
              <a:defRPr sz="1800"/>
            </a:pPr>
            <a:r>
              <a:t>• API access for integrations</a:t>
            </a:r>
          </a:p>
          <a:p>
            <a:pPr>
              <a:spcAft>
                <a:spcPts val="800"/>
              </a:spcAft>
              <a:defRPr sz="1800"/>
            </a:pPr>
            <a:r>
              <a:t>• Implementation support and training</a:t>
            </a:r>
          </a:p>
          <a:p>
            <a:pPr>
              <a:spcAft>
                <a:spcPts val="800"/>
              </a:spcAft>
              <a:defRPr sz="1800"/>
            </a:pPr>
            <a:r>
              <a:t>• </a:t>
            </a:r>
          </a:p>
          <a:p>
            <a:pPr>
              <a:spcAft>
                <a:spcPts val="800"/>
              </a:spcAft>
              <a:defRPr sz="1800"/>
            </a:pPr>
            <a:r>
              <a:t>[Pricing varies by scope, region, and automation requirements]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Implementation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Week 1-2: Environment setup and configuration</a:t>
            </a:r>
          </a:p>
          <a:p>
            <a:pPr>
              <a:spcAft>
                <a:spcPts val="800"/>
              </a:spcAft>
              <a:defRPr sz="1800"/>
            </a:pPr>
            <a:r>
              <a:t>• Week 3-4: Data migration and integration</a:t>
            </a:r>
          </a:p>
          <a:p>
            <a:pPr>
              <a:spcAft>
                <a:spcPts val="800"/>
              </a:spcAft>
              <a:defRPr sz="1800"/>
            </a:pPr>
            <a:r>
              <a:t>• Week 5-6: User training and pilot</a:t>
            </a:r>
          </a:p>
          <a:p>
            <a:pPr>
              <a:spcAft>
                <a:spcPts val="800"/>
              </a:spcAft>
              <a:defRPr sz="1800"/>
            </a:pPr>
            <a:r>
              <a:t>• Week 7+: Production launch and support</a:t>
            </a:r>
          </a:p>
          <a:p>
            <a:pPr>
              <a:spcAft>
                <a:spcPts val="800"/>
              </a:spcAft>
              <a:defRPr sz="1800"/>
            </a:pPr>
            <a:r>
              <a:t>• </a:t>
            </a:r>
          </a:p>
          <a:p>
            <a:pPr>
              <a:spcAft>
                <a:spcPts val="800"/>
              </a:spcAft>
              <a:defRPr sz="1800"/>
            </a:pPr>
            <a:r>
              <a:t>[Typical implementation: 6-8 weeks]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Why License vs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BUILD IN-HOUSE          vs    LICENSE PLATFORM</a:t>
            </a:r>
          </a:p>
          <a:p>
            <a:pPr>
              <a:spcAft>
                <a:spcPts val="800"/>
              </a:spcAft>
              <a:defRPr sz="1800"/>
            </a:pPr>
            <a:r>
              <a:t>• ─────────────────────────────────────────────</a:t>
            </a:r>
          </a:p>
          <a:p>
            <a:pPr>
              <a:spcAft>
                <a:spcPts val="800"/>
              </a:spcAft>
              <a:defRPr sz="1800"/>
            </a:pPr>
            <a:r>
              <a:t>12-18 months                  6-8 weeks</a:t>
            </a:r>
          </a:p>
          <a:p>
            <a:pPr>
              <a:spcAft>
                <a:spcPts val="800"/>
              </a:spcAft>
              <a:defRPr sz="1800"/>
            </a:pPr>
            <a:r>
              <a:t>• $500K-$1M+ dev cost           Scope-based licensing</a:t>
            </a:r>
          </a:p>
          <a:p>
            <a:pPr>
              <a:spcAft>
                <a:spcPts val="800"/>
              </a:spcAft>
              <a:defRPr sz="1800"/>
            </a:pPr>
            <a:r>
              <a:t>• Ongoing maintenance           Managed updates</a:t>
            </a:r>
          </a:p>
          <a:p>
            <a:pPr>
              <a:spcAft>
                <a:spcPts val="800"/>
              </a:spcAft>
              <a:defRPr sz="1800"/>
            </a:pPr>
            <a:r>
              <a:t>• Compliance risk               Audit-ready</a:t>
            </a:r>
          </a:p>
          <a:p>
            <a:pPr>
              <a:spcAft>
                <a:spcPts val="800"/>
              </a:spcAft>
              <a:defRPr sz="1800"/>
            </a:pPr>
            <a:r>
              <a:t>• No proven track record        Production-tested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1. Live platform walkthrough (30 min)</a:t>
            </a:r>
          </a:p>
          <a:p>
            <a:pPr algn="ctr">
              <a:defRPr sz="2000"/>
            </a:pPr>
            <a:r>
              <a:t>2. Scope discussion and requirements</a:t>
            </a:r>
          </a:p>
          <a:p>
            <a:pPr algn="ctr">
              <a:defRPr sz="2000"/>
            </a:pPr>
            <a:r>
              <a:t>3. Licensing proposal</a:t>
            </a:r>
          </a:p>
          <a:p>
            <a:pPr algn="ctr">
              <a:defRPr sz="2000"/>
            </a:pPr>
            <a:r>
              <a:t>4. Implementation planning</a:t>
            </a:r>
          </a:p>
          <a:p>
            <a:pPr algn="ctr">
              <a:defRPr sz="2000"/>
            </a:pPr>
          </a:p>
          <a:p>
            <a:pPr algn="ctr">
              <a:defRPr sz="2000"/>
            </a:pPr>
            <a:r>
              <a:t>─────────────────────────────────────────────</a:t>
            </a:r>
          </a:p>
          <a:p>
            <a:pPr algn="ctr">
              <a:defRPr sz="2000"/>
            </a:pPr>
          </a:p>
          <a:p>
            <a:pPr algn="ctr">
              <a:defRPr sz="2000"/>
            </a:pPr>
            <a:r>
              <a:t>Phone: (317) 314-3757</a:t>
            </a:r>
          </a:p>
          <a:p>
            <a:pPr algn="ctr">
              <a:defRPr sz="2000"/>
            </a:pPr>
            <a:r>
              <a:t>Email: elevate4humanityedu@gmail.com</a:t>
            </a:r>
          </a:p>
          <a:p>
            <a:pPr algn="ctr">
              <a:defRPr sz="2000"/>
            </a:pPr>
            <a:r>
              <a:t>Schedule: elevateforhumanity.org/schedule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